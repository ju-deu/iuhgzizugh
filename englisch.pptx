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20" d="100"/>
          <a:sy n="20" d="100"/>
        </p:scale>
        <p:origin x="4014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80609-953B-6FF5-7A48-DAFE37E13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B7D2E6-B63D-3ECF-3FF7-A23971BC2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7B48FE-84B4-B1FA-F77E-BB43ED2C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C98E30-9ECE-7795-62BF-1BD654C1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FD83A2-BE8D-7430-1C55-A31EF546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44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815B1-4950-219F-9738-39A2BA82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6529D9-F167-123B-0C51-0A7E33336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BDA2BD-D6EA-05C2-F152-0CA0F025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CAF010-37EF-AFAC-1F9E-637DFF5F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AFAFD-023B-85CC-D3CA-AC0318C0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85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6A6B-98CE-523F-8B99-5F378B2FE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72EBF6-EC10-7247-28D8-8D21D6B89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265D9-A11A-BF2A-7810-FB5FD775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47F3F0-CC99-7E60-0596-F0D69E50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22FE26-9E9A-D3BE-0C2B-41D5A248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93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F60D5-C23B-C0D7-9C66-AF62CA8F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8597AF-DE3C-95F0-F6D0-E778D1336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A6BF7-0B80-BD24-CA57-19426472B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8EE2D7-E818-04EE-552D-348E1507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15C71-B17D-36E3-DB69-5D4C7FF5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AC6767-A19A-799F-8CA5-B6B0CD52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832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D25E0-C55B-E599-0BB1-453F77D0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0302E6-E325-F5EF-5A1C-5EE99615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7220B7-1A22-5E88-829E-1A346EA53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AC31E8-1440-68B1-8C45-C3BB40E73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27C6D1-77DB-AC7B-161E-30E66A141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8F6173-9276-C6B7-5ABD-E308A2EE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D5AF4D-7773-446E-0ACD-E397BDE7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8CB323-432A-EF75-1101-F1F89701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8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633E97-F661-1E6F-5C2D-51747667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32C532-53C3-7B28-CD9B-ABFF7B58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0142AA-48E9-E908-5AB3-90A0FAEA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7B80F3-2488-60B1-897E-F5824C9F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19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49852E-9FB1-559F-182E-F631DC98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D8BD04-4AD2-C3B8-6E49-4396C8EE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92C7B4-41E9-8100-7F09-6F9A0023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7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CEC21-2AE8-7B12-7BF6-395C8173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B497C5-DEAA-5ADD-5267-2DF0ED65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5FDADC-B152-D123-06FC-1EFBE5AF0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DAA60B-AC30-64C7-E74A-3BAC4CAA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A139E6-8936-BFD0-A686-0C09290E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DC2EB9-C859-C059-E54D-97F626B3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50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753FAD-45A0-5932-7927-DB9D56DB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F6D5CA-931A-B319-B587-753EC61DA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54A9E9-2D1B-7E60-37AF-B8880DFD0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F702E0-B6B7-DD6D-DC3B-F7A540D2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4FBBE6-D34C-FD0D-7D5E-AFDCA729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527ECA-C635-E647-C70B-DF1EA850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11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D1B94-3443-B86A-E6BC-DC60DF62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D4748D-C08B-AC34-A5E2-7A2B93D7E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752D4F-57F8-691D-F020-7CA539E0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D053F8-CAA8-5174-20FB-DDE862E8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15795-A070-3738-4F0A-E51CB876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60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BF9D07C-7332-E5D9-5F15-C270579A8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5C6E5C-59C7-18C4-7AF8-21783FD19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1BBF4-B9A2-561B-1AE4-16D7ABBE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4A2B99-CFBE-6977-4043-2BC4A406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876597-7495-31FE-2C66-3FCF5B33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23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6E7860-8A95-47E9-177E-0324985D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069CF7-569F-63EA-54B5-F31648E42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8A392F-B030-28F2-36A7-E8406FED5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EBE75-0CA2-4ABE-B58D-BE8EDE440361}" type="datetimeFigureOut">
              <a:rPr lang="de-DE" smtClean="0"/>
              <a:t>29.10.2023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276789-6E52-C4A9-5F5B-DE28BB2D3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2C8C4D-32CA-BEAD-3DE3-51D854F7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088A3-60B6-459E-86EF-051A66B2A3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73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jp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012AEF73-0632-8585-9A7E-4F38F5D591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546ADD3-4AC3-7B8A-2D29-59819429CB9A}"/>
              </a:ext>
            </a:extLst>
          </p:cNvPr>
          <p:cNvSpPr/>
          <p:nvPr/>
        </p:nvSpPr>
        <p:spPr>
          <a:xfrm>
            <a:off x="3042303" y="0"/>
            <a:ext cx="9149697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9FC6A8-8749-7E3E-8F2F-D18FFC237F0A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0648A36-1A41-F63B-019A-501E20572B0A}"/>
              </a:ext>
            </a:extLst>
          </p:cNvPr>
          <p:cNvSpPr/>
          <p:nvPr/>
        </p:nvSpPr>
        <p:spPr>
          <a:xfrm>
            <a:off x="9144000" y="0"/>
            <a:ext cx="5301597" cy="685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ED6093C-117B-56D8-71A6-B6900D80E8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EBE7DF2-53A5-5D23-0AFE-EDB8AB4FF117}"/>
              </a:ext>
            </a:extLst>
          </p:cNvPr>
          <p:cNvSpPr txBox="1"/>
          <p:nvPr/>
        </p:nvSpPr>
        <p:spPr>
          <a:xfrm>
            <a:off x="1799497" y="2120949"/>
            <a:ext cx="859300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MY TRIP</a:t>
            </a:r>
            <a:endParaRPr lang="de-DE" sz="16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4066E4D-4915-7EA2-BECD-790B7DF5D423}"/>
              </a:ext>
            </a:extLst>
          </p:cNvPr>
          <p:cNvGrpSpPr/>
          <p:nvPr/>
        </p:nvGrpSpPr>
        <p:grpSpPr>
          <a:xfrm>
            <a:off x="-11306530" y="1011009"/>
            <a:ext cx="9182100" cy="4835979"/>
            <a:chOff x="1504950" y="1085850"/>
            <a:chExt cx="9182100" cy="4835979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E736ECF9-BD19-C9B0-EE52-33E0E8F8AC76}"/>
                </a:ext>
              </a:extLst>
            </p:cNvPr>
            <p:cNvSpPr/>
            <p:nvPr/>
          </p:nvSpPr>
          <p:spPr>
            <a:xfrm>
              <a:off x="1504950" y="108585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SEA CONTAINERS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0AAF873-3087-B971-49CE-194FF75592F0}"/>
                </a:ext>
              </a:extLst>
            </p:cNvPr>
            <p:cNvSpPr/>
            <p:nvPr/>
          </p:nvSpPr>
          <p:spPr>
            <a:xfrm>
              <a:off x="2273300" y="295910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Near the tube, major attractions and the Thames 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58755AE3-CA9D-044B-31B8-90E3AE5DE622}"/>
                </a:ext>
              </a:extLst>
            </p:cNvPr>
            <p:cNvSpPr/>
            <p:nvPr/>
          </p:nvSpPr>
          <p:spPr>
            <a:xfrm>
              <a:off x="49657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Prices range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From $200 - $500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C4D729A4-88B0-8685-88FD-2F29243F3E4B}"/>
                </a:ext>
              </a:extLst>
            </p:cNvPr>
            <p:cNvSpPr/>
            <p:nvPr/>
          </p:nvSpPr>
          <p:spPr>
            <a:xfrm>
              <a:off x="76581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34" name="Grafik 33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1E72ECA6-1AF1-7076-EE1C-E7B236070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100" y="3180555"/>
              <a:ext cx="380999" cy="315936"/>
            </a:xfrm>
            <a:prstGeom prst="rect">
              <a:avLst/>
            </a:prstGeom>
          </p:spPr>
        </p:pic>
        <p:pic>
          <p:nvPicPr>
            <p:cNvPr id="35" name="Grafik 34" descr="Ein Bild, das Symbol, Schrift, Logo enthält.&#10;&#10;Automatisch generierte Beschreibung">
              <a:extLst>
                <a:ext uri="{FF2B5EF4-FFF2-40B4-BE49-F238E27FC236}">
                  <a16:creationId xmlns:a16="http://schemas.microsoft.com/office/drawing/2014/main" id="{FD37425D-6083-93F5-8E03-FD938B1B5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163" y="3180555"/>
              <a:ext cx="353673" cy="353673"/>
            </a:xfrm>
            <a:prstGeom prst="rect">
              <a:avLst/>
            </a:prstGeom>
          </p:spPr>
        </p:pic>
        <p:pic>
          <p:nvPicPr>
            <p:cNvPr id="36" name="Grafik 35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304A2A06-F75A-31C2-F414-525988D0A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6758" y="3180555"/>
              <a:ext cx="323284" cy="323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716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012AEF73-0632-8585-9A7E-4F38F5D591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546ADD3-4AC3-7B8A-2D29-59819429CB9A}"/>
              </a:ext>
            </a:extLst>
          </p:cNvPr>
          <p:cNvSpPr/>
          <p:nvPr/>
        </p:nvSpPr>
        <p:spPr>
          <a:xfrm>
            <a:off x="12191998" y="-735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9FC6A8-8749-7E3E-8F2F-D18FFC237F0A}"/>
              </a:ext>
            </a:extLst>
          </p:cNvPr>
          <p:cNvSpPr/>
          <p:nvPr/>
        </p:nvSpPr>
        <p:spPr>
          <a:xfrm>
            <a:off x="24383998" y="-7350"/>
            <a:ext cx="12223748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0648A36-1A41-F63B-019A-501E20572B0A}"/>
              </a:ext>
            </a:extLst>
          </p:cNvPr>
          <p:cNvSpPr/>
          <p:nvPr/>
        </p:nvSpPr>
        <p:spPr>
          <a:xfrm>
            <a:off x="36607744" y="30388"/>
            <a:ext cx="12192000" cy="685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ED6093C-117B-56D8-71A6-B6900D80E8B4}"/>
              </a:ext>
            </a:extLst>
          </p:cNvPr>
          <p:cNvSpPr/>
          <p:nvPr/>
        </p:nvSpPr>
        <p:spPr>
          <a:xfrm>
            <a:off x="0" y="-7350"/>
            <a:ext cx="12192000" cy="6858000"/>
          </a:xfrm>
          <a:prstGeom prst="rect">
            <a:avLst/>
          </a:prstGeom>
          <a:solidFill>
            <a:srgbClr val="000000">
              <a:alpha val="5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EBE7DF2-53A5-5D23-0AFE-EDB8AB4FF117}"/>
              </a:ext>
            </a:extLst>
          </p:cNvPr>
          <p:cNvSpPr txBox="1"/>
          <p:nvPr/>
        </p:nvSpPr>
        <p:spPr>
          <a:xfrm>
            <a:off x="1799497" y="-3927826"/>
            <a:ext cx="859300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MY TRIP</a:t>
            </a:r>
            <a:endParaRPr lang="de-DE" sz="16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4066E4D-4915-7EA2-BECD-790B7DF5D423}"/>
              </a:ext>
            </a:extLst>
          </p:cNvPr>
          <p:cNvGrpSpPr/>
          <p:nvPr/>
        </p:nvGrpSpPr>
        <p:grpSpPr>
          <a:xfrm>
            <a:off x="1504949" y="1011010"/>
            <a:ext cx="9182100" cy="4835979"/>
            <a:chOff x="1504950" y="1085850"/>
            <a:chExt cx="9182100" cy="4835979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E736ECF9-BD19-C9B0-EE52-33E0E8F8AC76}"/>
                </a:ext>
              </a:extLst>
            </p:cNvPr>
            <p:cNvSpPr/>
            <p:nvPr/>
          </p:nvSpPr>
          <p:spPr>
            <a:xfrm>
              <a:off x="1504950" y="108585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SEA CONTAINERS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0AAF873-3087-B971-49CE-194FF75592F0}"/>
                </a:ext>
              </a:extLst>
            </p:cNvPr>
            <p:cNvSpPr/>
            <p:nvPr/>
          </p:nvSpPr>
          <p:spPr>
            <a:xfrm>
              <a:off x="2273300" y="295910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Near the tube, major attractions and the Thames 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58755AE3-CA9D-044B-31B8-90E3AE5DE622}"/>
                </a:ext>
              </a:extLst>
            </p:cNvPr>
            <p:cNvSpPr/>
            <p:nvPr/>
          </p:nvSpPr>
          <p:spPr>
            <a:xfrm>
              <a:off x="49657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Prices range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From $200 - $500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C4D729A4-88B0-8685-88FD-2F29243F3E4B}"/>
                </a:ext>
              </a:extLst>
            </p:cNvPr>
            <p:cNvSpPr/>
            <p:nvPr/>
          </p:nvSpPr>
          <p:spPr>
            <a:xfrm>
              <a:off x="76581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34" name="Grafik 33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1E72ECA6-1AF1-7076-EE1C-E7B236070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100" y="3180555"/>
              <a:ext cx="380999" cy="315936"/>
            </a:xfrm>
            <a:prstGeom prst="rect">
              <a:avLst/>
            </a:prstGeom>
          </p:spPr>
        </p:pic>
        <p:pic>
          <p:nvPicPr>
            <p:cNvPr id="35" name="Grafik 34" descr="Ein Bild, das Symbol, Schrift, Logo enthält.&#10;&#10;Automatisch generierte Beschreibung">
              <a:extLst>
                <a:ext uri="{FF2B5EF4-FFF2-40B4-BE49-F238E27FC236}">
                  <a16:creationId xmlns:a16="http://schemas.microsoft.com/office/drawing/2014/main" id="{FD37425D-6083-93F5-8E03-FD938B1B5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163" y="3180555"/>
              <a:ext cx="353673" cy="353673"/>
            </a:xfrm>
            <a:prstGeom prst="rect">
              <a:avLst/>
            </a:prstGeom>
          </p:spPr>
        </p:pic>
        <p:pic>
          <p:nvPicPr>
            <p:cNvPr id="36" name="Grafik 35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304A2A06-F75A-31C2-F414-525988D0A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6758" y="3180555"/>
              <a:ext cx="323284" cy="323284"/>
            </a:xfrm>
            <a:prstGeom prst="rect">
              <a:avLst/>
            </a:prstGeom>
          </p:spPr>
        </p:pic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8E3B613-9077-DB1D-9940-432505ED4A59}"/>
              </a:ext>
            </a:extLst>
          </p:cNvPr>
          <p:cNvGrpSpPr/>
          <p:nvPr/>
        </p:nvGrpSpPr>
        <p:grpSpPr>
          <a:xfrm>
            <a:off x="-10033001" y="1011010"/>
            <a:ext cx="9182100" cy="4835979"/>
            <a:chOff x="1522213" y="1017041"/>
            <a:chExt cx="9182100" cy="4835979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099372CD-6E68-163E-76A8-5E0255BED8C1}"/>
                </a:ext>
              </a:extLst>
            </p:cNvPr>
            <p:cNvSpPr/>
            <p:nvPr/>
          </p:nvSpPr>
          <p:spPr>
            <a:xfrm>
              <a:off x="1522213" y="1017041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BOROUGH MARKET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90566636-8717-2D4D-C7ED-78060939325B}"/>
                </a:ext>
              </a:extLst>
            </p:cNvPr>
            <p:cNvSpPr/>
            <p:nvPr/>
          </p:nvSpPr>
          <p:spPr>
            <a:xfrm>
              <a:off x="2290563" y="290163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>
                  <a:latin typeface="Arial Rounded MT Bold" panose="020F0704030504030204" pitchFamily="34" charset="0"/>
                </a:rPr>
                <a:t>20 Minute </a:t>
              </a:r>
              <a:r>
                <a:rPr lang="de-DE" dirty="0" err="1">
                  <a:latin typeface="Arial Rounded MT Bold" panose="020F0704030504030204" pitchFamily="34" charset="0"/>
                </a:rPr>
                <a:t>walk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from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hotel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E77ECE40-E12A-AD07-8761-1F007DF30027}"/>
                </a:ext>
              </a:extLst>
            </p:cNvPr>
            <p:cNvSpPr/>
            <p:nvPr/>
          </p:nvSpPr>
          <p:spPr>
            <a:xfrm>
              <a:off x="49829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Not only delicacies but also groceries</a:t>
              </a:r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54DBEB6F-EBC7-6145-E41A-D8063CED4AB8}"/>
                </a:ext>
              </a:extLst>
            </p:cNvPr>
            <p:cNvSpPr/>
            <p:nvPr/>
          </p:nvSpPr>
          <p:spPr>
            <a:xfrm>
              <a:off x="76753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Mo: CLOSED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Tu Fr: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10:00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Sa: 9:00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So: 10:00 – 4:00</a:t>
              </a:r>
            </a:p>
          </p:txBody>
        </p:sp>
        <p:pic>
          <p:nvPicPr>
            <p:cNvPr id="7" name="Grafik 6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46A03318-E85F-AD8C-ECA3-BDD5B8D66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0363" y="3111746"/>
              <a:ext cx="380999" cy="315936"/>
            </a:xfrm>
            <a:prstGeom prst="rect">
              <a:avLst/>
            </a:prstGeom>
          </p:spPr>
        </p:pic>
        <p:pic>
          <p:nvPicPr>
            <p:cNvPr id="8" name="Grafik 7" descr="Ein Bild, das Logo, Grafiken, Clipart, Symbol enthält.&#10;&#10;Automatisch generierte Beschreibung">
              <a:extLst>
                <a:ext uri="{FF2B5EF4-FFF2-40B4-BE49-F238E27FC236}">
                  <a16:creationId xmlns:a16="http://schemas.microsoft.com/office/drawing/2014/main" id="{6D4AE50E-DFCE-C964-DA4D-21B0A1E9D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0408" y="3136103"/>
              <a:ext cx="291183" cy="291183"/>
            </a:xfrm>
            <a:prstGeom prst="rect">
              <a:avLst/>
            </a:prstGeom>
          </p:spPr>
        </p:pic>
        <p:pic>
          <p:nvPicPr>
            <p:cNvPr id="9" name="Grafik 8" descr="Ein Bild, das Clipart, Symbol, Grafiken, Design enthält.&#10;&#10;Automatisch generierte Beschreibung">
              <a:extLst>
                <a:ext uri="{FF2B5EF4-FFF2-40B4-BE49-F238E27FC236}">
                  <a16:creationId xmlns:a16="http://schemas.microsoft.com/office/drawing/2014/main" id="{24B11C98-9F63-FBF0-2523-3FA3FCFE7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6740" y="3136103"/>
              <a:ext cx="297940" cy="297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1615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012AEF73-0632-8585-9A7E-4F38F5D5911E}"/>
              </a:ext>
            </a:extLst>
          </p:cNvPr>
          <p:cNvSpPr/>
          <p:nvPr/>
        </p:nvSpPr>
        <p:spPr>
          <a:xfrm>
            <a:off x="-12192000" y="5043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546ADD3-4AC3-7B8A-2D29-59819429CB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9FC6A8-8749-7E3E-8F2F-D18FFC237F0A}"/>
              </a:ext>
            </a:extLst>
          </p:cNvPr>
          <p:cNvSpPr/>
          <p:nvPr/>
        </p:nvSpPr>
        <p:spPr>
          <a:xfrm>
            <a:off x="12192000" y="-1715"/>
            <a:ext cx="12157472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0648A36-1A41-F63B-019A-501E20572B0A}"/>
              </a:ext>
            </a:extLst>
          </p:cNvPr>
          <p:cNvSpPr/>
          <p:nvPr/>
        </p:nvSpPr>
        <p:spPr>
          <a:xfrm>
            <a:off x="24384000" y="69182"/>
            <a:ext cx="12192000" cy="685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ED6093C-117B-56D8-71A6-B6900D80E8B4}"/>
              </a:ext>
            </a:extLst>
          </p:cNvPr>
          <p:cNvSpPr/>
          <p:nvPr/>
        </p:nvSpPr>
        <p:spPr>
          <a:xfrm>
            <a:off x="0" y="5043"/>
            <a:ext cx="12192000" cy="6858000"/>
          </a:xfrm>
          <a:prstGeom prst="rect">
            <a:avLst/>
          </a:prstGeom>
          <a:solidFill>
            <a:srgbClr val="000000">
              <a:alpha val="5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EB7A812-BCDB-93CD-0176-CB8D093F5E70}"/>
              </a:ext>
            </a:extLst>
          </p:cNvPr>
          <p:cNvGrpSpPr/>
          <p:nvPr/>
        </p:nvGrpSpPr>
        <p:grpSpPr>
          <a:xfrm>
            <a:off x="1522213" y="1017041"/>
            <a:ext cx="9182100" cy="4835979"/>
            <a:chOff x="1522213" y="1017041"/>
            <a:chExt cx="9182100" cy="4835979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E736ECF9-BD19-C9B0-EE52-33E0E8F8AC76}"/>
                </a:ext>
              </a:extLst>
            </p:cNvPr>
            <p:cNvSpPr/>
            <p:nvPr/>
          </p:nvSpPr>
          <p:spPr>
            <a:xfrm>
              <a:off x="1522213" y="1017041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BOROUGH MARKET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0AAF873-3087-B971-49CE-194FF75592F0}"/>
                </a:ext>
              </a:extLst>
            </p:cNvPr>
            <p:cNvSpPr/>
            <p:nvPr/>
          </p:nvSpPr>
          <p:spPr>
            <a:xfrm>
              <a:off x="2290563" y="290163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>
                  <a:latin typeface="Arial Rounded MT Bold" panose="020F0704030504030204" pitchFamily="34" charset="0"/>
                </a:rPr>
                <a:t>20 Minute </a:t>
              </a:r>
              <a:r>
                <a:rPr lang="de-DE" dirty="0" err="1">
                  <a:latin typeface="Arial Rounded MT Bold" panose="020F0704030504030204" pitchFamily="34" charset="0"/>
                </a:rPr>
                <a:t>walk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from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hotel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58755AE3-CA9D-044B-31B8-90E3AE5DE622}"/>
                </a:ext>
              </a:extLst>
            </p:cNvPr>
            <p:cNvSpPr/>
            <p:nvPr/>
          </p:nvSpPr>
          <p:spPr>
            <a:xfrm>
              <a:off x="49829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Not only delicacies but also groceries</a:t>
              </a:r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C4D729A4-88B0-8685-88FD-2F29243F3E4B}"/>
                </a:ext>
              </a:extLst>
            </p:cNvPr>
            <p:cNvSpPr/>
            <p:nvPr/>
          </p:nvSpPr>
          <p:spPr>
            <a:xfrm>
              <a:off x="76753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Mo: CLOSED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Tu Fr: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10:00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Sa: 9:00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So: 10:00 – 4:00</a:t>
              </a:r>
            </a:p>
          </p:txBody>
        </p:sp>
        <p:pic>
          <p:nvPicPr>
            <p:cNvPr id="34" name="Grafik 33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1E72ECA6-1AF1-7076-EE1C-E7B236070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0363" y="3111746"/>
              <a:ext cx="380999" cy="315936"/>
            </a:xfrm>
            <a:prstGeom prst="rect">
              <a:avLst/>
            </a:prstGeom>
          </p:spPr>
        </p:pic>
        <p:pic>
          <p:nvPicPr>
            <p:cNvPr id="3" name="Grafik 2" descr="Ein Bild, das Logo, Grafiken, Clipart, Symbol enthält.&#10;&#10;Automatisch generierte Beschreibung">
              <a:extLst>
                <a:ext uri="{FF2B5EF4-FFF2-40B4-BE49-F238E27FC236}">
                  <a16:creationId xmlns:a16="http://schemas.microsoft.com/office/drawing/2014/main" id="{9F9A758A-8825-C216-0213-3F3DC1AAF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0408" y="3136103"/>
              <a:ext cx="291183" cy="291183"/>
            </a:xfrm>
            <a:prstGeom prst="rect">
              <a:avLst/>
            </a:prstGeom>
          </p:spPr>
        </p:pic>
        <p:pic>
          <p:nvPicPr>
            <p:cNvPr id="6" name="Grafik 5" descr="Ein Bild, das Clipart, Symbol, Grafiken, Design enthält.&#10;&#10;Automatisch generierte Beschreibung">
              <a:extLst>
                <a:ext uri="{FF2B5EF4-FFF2-40B4-BE49-F238E27FC236}">
                  <a16:creationId xmlns:a16="http://schemas.microsoft.com/office/drawing/2014/main" id="{9372FFAA-B15B-8640-E039-1A2C0E047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6740" y="3136103"/>
              <a:ext cx="297940" cy="297940"/>
            </a:xfrm>
            <a:prstGeom prst="rect">
              <a:avLst/>
            </a:prstGeom>
          </p:spPr>
        </p:pic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E45FD93-E48A-E9CC-B3DF-694665134867}"/>
              </a:ext>
            </a:extLst>
          </p:cNvPr>
          <p:cNvGrpSpPr/>
          <p:nvPr/>
        </p:nvGrpSpPr>
        <p:grpSpPr>
          <a:xfrm>
            <a:off x="1522213" y="-9987463"/>
            <a:ext cx="9182100" cy="4835979"/>
            <a:chOff x="1504950" y="1085850"/>
            <a:chExt cx="9182100" cy="4835979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C8EA5955-B265-F7E5-0E73-D52C1A24F458}"/>
                </a:ext>
              </a:extLst>
            </p:cNvPr>
            <p:cNvSpPr/>
            <p:nvPr/>
          </p:nvSpPr>
          <p:spPr>
            <a:xfrm>
              <a:off x="1504950" y="108585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SEA CONTAINERS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B5AC8D5E-FF71-24AE-46DD-EDDA886AE555}"/>
                </a:ext>
              </a:extLst>
            </p:cNvPr>
            <p:cNvSpPr/>
            <p:nvPr/>
          </p:nvSpPr>
          <p:spPr>
            <a:xfrm>
              <a:off x="2273300" y="295910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Near the tube, major attractions and the Thames 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EB78BAEE-9ECF-6872-D448-2320568F5A53}"/>
                </a:ext>
              </a:extLst>
            </p:cNvPr>
            <p:cNvSpPr/>
            <p:nvPr/>
          </p:nvSpPr>
          <p:spPr>
            <a:xfrm>
              <a:off x="49657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Prices range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From $200 - $500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B7B441FF-9AA3-3DEE-CE0F-17CD37E0B9F5}"/>
                </a:ext>
              </a:extLst>
            </p:cNvPr>
            <p:cNvSpPr/>
            <p:nvPr/>
          </p:nvSpPr>
          <p:spPr>
            <a:xfrm>
              <a:off x="7658100" y="2970439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13" name="Grafik 12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D856344F-D0F6-8393-AD21-817DDC9F6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3100" y="3180555"/>
              <a:ext cx="380999" cy="315936"/>
            </a:xfrm>
            <a:prstGeom prst="rect">
              <a:avLst/>
            </a:prstGeom>
          </p:spPr>
        </p:pic>
        <p:pic>
          <p:nvPicPr>
            <p:cNvPr id="14" name="Grafik 13" descr="Ein Bild, das Symbol, Schrift, Logo enthält.&#10;&#10;Automatisch generierte Beschreibung">
              <a:extLst>
                <a:ext uri="{FF2B5EF4-FFF2-40B4-BE49-F238E27FC236}">
                  <a16:creationId xmlns:a16="http://schemas.microsoft.com/office/drawing/2014/main" id="{845B1098-EA82-638A-7649-E270DB5A7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163" y="3180555"/>
              <a:ext cx="353673" cy="353673"/>
            </a:xfrm>
            <a:prstGeom prst="rect">
              <a:avLst/>
            </a:prstGeom>
          </p:spPr>
        </p:pic>
        <p:pic>
          <p:nvPicPr>
            <p:cNvPr id="15" name="Grafik 14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96D58E74-CD3F-0C8F-9C6F-821A7D743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6758" y="3180555"/>
              <a:ext cx="323284" cy="323284"/>
            </a:xfrm>
            <a:prstGeom prst="rect">
              <a:avLst/>
            </a:prstGeom>
          </p:spPr>
        </p:pic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9937E5A-0AE7-E241-7540-482C7EC38A3C}"/>
              </a:ext>
            </a:extLst>
          </p:cNvPr>
          <p:cNvGrpSpPr/>
          <p:nvPr/>
        </p:nvGrpSpPr>
        <p:grpSpPr>
          <a:xfrm>
            <a:off x="-10852270" y="1009296"/>
            <a:ext cx="9182100" cy="4835979"/>
            <a:chOff x="1529373" y="1013240"/>
            <a:chExt cx="9182100" cy="4835979"/>
          </a:xfrm>
        </p:grpSpPr>
        <p:sp>
          <p:nvSpPr>
            <p:cNvPr id="38" name="Rechteck: abgerundete Ecken 37">
              <a:extLst>
                <a:ext uri="{FF2B5EF4-FFF2-40B4-BE49-F238E27FC236}">
                  <a16:creationId xmlns:a16="http://schemas.microsoft.com/office/drawing/2014/main" id="{0177AF5D-C3BB-6F00-E554-152FC82B0BE2}"/>
                </a:ext>
              </a:extLst>
            </p:cNvPr>
            <p:cNvSpPr/>
            <p:nvPr/>
          </p:nvSpPr>
          <p:spPr>
            <a:xfrm>
              <a:off x="1529373" y="101324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COPPA CLUB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8C1CF363-6DD3-974C-9C8E-39CEA56090E4}"/>
                </a:ext>
              </a:extLst>
            </p:cNvPr>
            <p:cNvSpPr/>
            <p:nvPr/>
          </p:nvSpPr>
          <p:spPr>
            <a:xfrm>
              <a:off x="4965700" y="2990301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European cuisine</a:t>
              </a:r>
            </a:p>
          </p:txBody>
        </p:sp>
        <p:pic>
          <p:nvPicPr>
            <p:cNvPr id="40" name="Grafik 39" descr="Ein Bild, das Logo, Symbol, Schrift, Grafiken enthält.&#10;&#10;Automatisch generierte Beschreibung">
              <a:extLst>
                <a:ext uri="{FF2B5EF4-FFF2-40B4-BE49-F238E27FC236}">
                  <a16:creationId xmlns:a16="http://schemas.microsoft.com/office/drawing/2014/main" id="{BE506836-4E26-532A-2BCC-C9DCD2D06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977685" y="3224923"/>
              <a:ext cx="261051" cy="291183"/>
            </a:xfrm>
            <a:prstGeom prst="rect">
              <a:avLst/>
            </a:prstGeom>
          </p:spPr>
        </p:pic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C25890F8-DDB7-6E63-F26A-BCC9AF881A43}"/>
                </a:ext>
              </a:extLst>
            </p:cNvPr>
            <p:cNvSpPr/>
            <p:nvPr/>
          </p:nvSpPr>
          <p:spPr>
            <a:xfrm>
              <a:off x="7682523" y="2983734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42" name="Grafik 41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951F7D5E-EA8F-156F-F399-DB9CF0CA2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1131" y="3178842"/>
              <a:ext cx="323284" cy="323284"/>
            </a:xfrm>
            <a:prstGeom prst="rect">
              <a:avLst/>
            </a:prstGeom>
          </p:spPr>
        </p:pic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37428BBD-8E6A-5FCD-AF7D-8FAE9ACC8420}"/>
                </a:ext>
              </a:extLst>
            </p:cNvPr>
            <p:cNvSpPr/>
            <p:nvPr/>
          </p:nvSpPr>
          <p:spPr>
            <a:xfrm>
              <a:off x="2248877" y="2959325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Near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the</a:t>
              </a:r>
              <a:r>
                <a:rPr lang="de-DE" dirty="0">
                  <a:latin typeface="Arial Rounded MT Bold" panose="020F0704030504030204" pitchFamily="34" charset="0"/>
                </a:rPr>
                <a:t> Tower </a:t>
              </a: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of</a:t>
              </a:r>
              <a:r>
                <a:rPr lang="de-DE" dirty="0">
                  <a:latin typeface="Arial Rounded MT Bold" panose="020F0704030504030204" pitchFamily="34" charset="0"/>
                </a:rPr>
                <a:t> London</a:t>
              </a:r>
            </a:p>
          </p:txBody>
        </p:sp>
        <p:pic>
          <p:nvPicPr>
            <p:cNvPr id="44" name="Grafik 43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42154F80-6410-9EDC-498F-7CE90C3A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154" y="3224923"/>
              <a:ext cx="341113" cy="282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5465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4546ADD3-4AC3-7B8A-2D29-59819429CB9A}"/>
              </a:ext>
            </a:extLst>
          </p:cNvPr>
          <p:cNvSpPr/>
          <p:nvPr/>
        </p:nvSpPr>
        <p:spPr>
          <a:xfrm>
            <a:off x="-1219200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E9FC6A8-8749-7E3E-8F2F-D18FFC237F0A}"/>
              </a:ext>
            </a:extLst>
          </p:cNvPr>
          <p:cNvSpPr/>
          <p:nvPr/>
        </p:nvSpPr>
        <p:spPr>
          <a:xfrm>
            <a:off x="0" y="0"/>
            <a:ext cx="12216423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0648A36-1A41-F63B-019A-501E20572B0A}"/>
              </a:ext>
            </a:extLst>
          </p:cNvPr>
          <p:cNvSpPr/>
          <p:nvPr/>
        </p:nvSpPr>
        <p:spPr>
          <a:xfrm>
            <a:off x="12216423" y="0"/>
            <a:ext cx="12216423" cy="685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EB7A812-BCDB-93CD-0176-CB8D093F5E70}"/>
              </a:ext>
            </a:extLst>
          </p:cNvPr>
          <p:cNvGrpSpPr/>
          <p:nvPr/>
        </p:nvGrpSpPr>
        <p:grpSpPr>
          <a:xfrm>
            <a:off x="1504950" y="-8443612"/>
            <a:ext cx="9182100" cy="4835979"/>
            <a:chOff x="1522213" y="1017041"/>
            <a:chExt cx="9182100" cy="4835979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E736ECF9-BD19-C9B0-EE52-33E0E8F8AC76}"/>
                </a:ext>
              </a:extLst>
            </p:cNvPr>
            <p:cNvSpPr/>
            <p:nvPr/>
          </p:nvSpPr>
          <p:spPr>
            <a:xfrm>
              <a:off x="1522213" y="1017041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BOROUGH MARKET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0AAF873-3087-B971-49CE-194FF75592F0}"/>
                </a:ext>
              </a:extLst>
            </p:cNvPr>
            <p:cNvSpPr/>
            <p:nvPr/>
          </p:nvSpPr>
          <p:spPr>
            <a:xfrm>
              <a:off x="2290563" y="2901630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>
                  <a:latin typeface="Arial Rounded MT Bold" panose="020F0704030504030204" pitchFamily="34" charset="0"/>
                </a:rPr>
                <a:t>20 Minute </a:t>
              </a:r>
              <a:r>
                <a:rPr lang="de-DE" dirty="0" err="1">
                  <a:latin typeface="Arial Rounded MT Bold" panose="020F0704030504030204" pitchFamily="34" charset="0"/>
                </a:rPr>
                <a:t>walk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from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hotel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58755AE3-CA9D-044B-31B8-90E3AE5DE622}"/>
                </a:ext>
              </a:extLst>
            </p:cNvPr>
            <p:cNvSpPr/>
            <p:nvPr/>
          </p:nvSpPr>
          <p:spPr>
            <a:xfrm>
              <a:off x="49829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Not only delicacies but also groceries</a:t>
              </a:r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C4D729A4-88B0-8685-88FD-2F29243F3E4B}"/>
                </a:ext>
              </a:extLst>
            </p:cNvPr>
            <p:cNvSpPr/>
            <p:nvPr/>
          </p:nvSpPr>
          <p:spPr>
            <a:xfrm>
              <a:off x="7675363" y="2901630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Mo: CLOSED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Tu Fr: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10:00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Sa: 9:00 – 5:00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So: 10:00 – 4:00</a:t>
              </a:r>
            </a:p>
          </p:txBody>
        </p:sp>
        <p:pic>
          <p:nvPicPr>
            <p:cNvPr id="34" name="Grafik 33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1E72ECA6-1AF1-7076-EE1C-E7B236070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0363" y="3111746"/>
              <a:ext cx="380999" cy="315936"/>
            </a:xfrm>
            <a:prstGeom prst="rect">
              <a:avLst/>
            </a:prstGeom>
          </p:spPr>
        </p:pic>
        <p:pic>
          <p:nvPicPr>
            <p:cNvPr id="3" name="Grafik 2" descr="Ein Bild, das Logo, Grafiken, Clipart, Symbol enthält.&#10;&#10;Automatisch generierte Beschreibung">
              <a:extLst>
                <a:ext uri="{FF2B5EF4-FFF2-40B4-BE49-F238E27FC236}">
                  <a16:creationId xmlns:a16="http://schemas.microsoft.com/office/drawing/2014/main" id="{9F9A758A-8825-C216-0213-3F3DC1AAF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0408" y="3136103"/>
              <a:ext cx="291183" cy="291183"/>
            </a:xfrm>
            <a:prstGeom prst="rect">
              <a:avLst/>
            </a:prstGeom>
          </p:spPr>
        </p:pic>
        <p:pic>
          <p:nvPicPr>
            <p:cNvPr id="6" name="Grafik 5" descr="Ein Bild, das Clipart, Symbol, Grafiken, Design enthält.&#10;&#10;Automatisch generierte Beschreibung">
              <a:extLst>
                <a:ext uri="{FF2B5EF4-FFF2-40B4-BE49-F238E27FC236}">
                  <a16:creationId xmlns:a16="http://schemas.microsoft.com/office/drawing/2014/main" id="{9372FFAA-B15B-8640-E039-1A2C0E047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6740" y="3136103"/>
              <a:ext cx="297940" cy="297940"/>
            </a:xfrm>
            <a:prstGeom prst="rect">
              <a:avLst/>
            </a:prstGeom>
          </p:spPr>
        </p:pic>
      </p:grpSp>
      <p:sp>
        <p:nvSpPr>
          <p:cNvPr id="26" name="Rechteck 25">
            <a:extLst>
              <a:ext uri="{FF2B5EF4-FFF2-40B4-BE49-F238E27FC236}">
                <a16:creationId xmlns:a16="http://schemas.microsoft.com/office/drawing/2014/main" id="{6ED6093C-117B-56D8-71A6-B6900D80E8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F5EFA399-B2EF-AB57-211B-F17F91916A52}"/>
              </a:ext>
            </a:extLst>
          </p:cNvPr>
          <p:cNvGrpSpPr/>
          <p:nvPr/>
        </p:nvGrpSpPr>
        <p:grpSpPr>
          <a:xfrm>
            <a:off x="1633278" y="1011010"/>
            <a:ext cx="9182100" cy="4835979"/>
            <a:chOff x="1529373" y="1013240"/>
            <a:chExt cx="9182100" cy="4835979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B6BE102E-110C-DA59-414F-8FC497CAF877}"/>
                </a:ext>
              </a:extLst>
            </p:cNvPr>
            <p:cNvSpPr/>
            <p:nvPr/>
          </p:nvSpPr>
          <p:spPr>
            <a:xfrm>
              <a:off x="1529373" y="101324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COPPA CLUB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AEE4BF9C-1E71-E3AD-2A18-05D19D5A347E}"/>
                </a:ext>
              </a:extLst>
            </p:cNvPr>
            <p:cNvSpPr/>
            <p:nvPr/>
          </p:nvSpPr>
          <p:spPr>
            <a:xfrm>
              <a:off x="4965700" y="2990301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European cuisine</a:t>
              </a:r>
            </a:p>
          </p:txBody>
        </p:sp>
        <p:pic>
          <p:nvPicPr>
            <p:cNvPr id="27" name="Grafik 26" descr="Ein Bild, das Logo, Symbol, Schrift, Grafiken enthält.&#10;&#10;Automatisch generierte Beschreibung">
              <a:extLst>
                <a:ext uri="{FF2B5EF4-FFF2-40B4-BE49-F238E27FC236}">
                  <a16:creationId xmlns:a16="http://schemas.microsoft.com/office/drawing/2014/main" id="{CD7434A1-10B4-D949-783B-6AE2624E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977685" y="3224923"/>
              <a:ext cx="261051" cy="291183"/>
            </a:xfrm>
            <a:prstGeom prst="rect">
              <a:avLst/>
            </a:prstGeom>
          </p:spPr>
        </p:pic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8BFB46E6-3A86-0FBB-E254-E633BA492C86}"/>
                </a:ext>
              </a:extLst>
            </p:cNvPr>
            <p:cNvSpPr/>
            <p:nvPr/>
          </p:nvSpPr>
          <p:spPr>
            <a:xfrm>
              <a:off x="7682523" y="2983734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29" name="Grafik 28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84CFC042-CD0A-48F3-D0EE-C6B1C3F4F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1131" y="3178842"/>
              <a:ext cx="323284" cy="323284"/>
            </a:xfrm>
            <a:prstGeom prst="rect">
              <a:avLst/>
            </a:prstGeom>
          </p:spPr>
        </p:pic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55477573-CB4D-BD47-2A68-FB7D771D7D9B}"/>
                </a:ext>
              </a:extLst>
            </p:cNvPr>
            <p:cNvSpPr/>
            <p:nvPr/>
          </p:nvSpPr>
          <p:spPr>
            <a:xfrm>
              <a:off x="2248877" y="2959325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Near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the</a:t>
              </a:r>
              <a:r>
                <a:rPr lang="de-DE" dirty="0">
                  <a:latin typeface="Arial Rounded MT Bold" panose="020F0704030504030204" pitchFamily="34" charset="0"/>
                </a:rPr>
                <a:t> Tower </a:t>
              </a: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of</a:t>
              </a:r>
              <a:r>
                <a:rPr lang="de-DE" dirty="0">
                  <a:latin typeface="Arial Rounded MT Bold" panose="020F0704030504030204" pitchFamily="34" charset="0"/>
                </a:rPr>
                <a:t> London</a:t>
              </a:r>
            </a:p>
          </p:txBody>
        </p:sp>
        <p:pic>
          <p:nvPicPr>
            <p:cNvPr id="18" name="Grafik 17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229E1393-3C32-5D84-E66A-C0D43936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154" y="3224923"/>
              <a:ext cx="341113" cy="282861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1E7BFB37-EC0B-1F7D-62D2-A143F48EAEBA}"/>
              </a:ext>
            </a:extLst>
          </p:cNvPr>
          <p:cNvGrpSpPr/>
          <p:nvPr/>
        </p:nvGrpSpPr>
        <p:grpSpPr>
          <a:xfrm>
            <a:off x="-10558722" y="1011009"/>
            <a:ext cx="9182100" cy="4835979"/>
            <a:chOff x="1753785" y="1011010"/>
            <a:chExt cx="9182100" cy="4835979"/>
          </a:xfrm>
        </p:grpSpPr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BDBD3F94-6A6F-2B0C-DB7B-75B4B81D55B4}"/>
                </a:ext>
              </a:extLst>
            </p:cNvPr>
            <p:cNvGrpSpPr/>
            <p:nvPr/>
          </p:nvGrpSpPr>
          <p:grpSpPr>
            <a:xfrm>
              <a:off x="1753785" y="1011010"/>
              <a:ext cx="9182100" cy="4835979"/>
              <a:chOff x="1331909" y="1174881"/>
              <a:chExt cx="9182100" cy="4835979"/>
            </a:xfrm>
          </p:grpSpPr>
          <p:sp>
            <p:nvSpPr>
              <p:cNvPr id="45" name="Rechteck: abgerundete Ecken 44">
                <a:extLst>
                  <a:ext uri="{FF2B5EF4-FFF2-40B4-BE49-F238E27FC236}">
                    <a16:creationId xmlns:a16="http://schemas.microsoft.com/office/drawing/2014/main" id="{B7947F94-83C2-3981-6582-410F08FF7BC1}"/>
                  </a:ext>
                </a:extLst>
              </p:cNvPr>
              <p:cNvSpPr/>
              <p:nvPr/>
            </p:nvSpPr>
            <p:spPr>
              <a:xfrm>
                <a:off x="1331909" y="1174881"/>
                <a:ext cx="9182100" cy="4835979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5800" dirty="0">
                    <a:latin typeface="Arial Rounded MT Bold" panose="020F0704030504030204" pitchFamily="34" charset="0"/>
                  </a:rPr>
                  <a:t>Hop-on Hop-off </a:t>
                </a:r>
              </a:p>
              <a:p>
                <a:r>
                  <a:rPr lang="en-US" dirty="0">
                    <a:latin typeface="Arial Rounded MT Bold" panose="020F0704030504030204" pitchFamily="34" charset="0"/>
                  </a:rPr>
                  <a:t>with guide</a:t>
                </a:r>
              </a:p>
              <a:p>
                <a:pPr algn="ctr"/>
                <a:endParaRPr lang="en-US" sz="5800" dirty="0"/>
              </a:p>
              <a:p>
                <a:pPr algn="ctr"/>
                <a:endParaRPr lang="en-US" sz="5800" dirty="0"/>
              </a:p>
              <a:p>
                <a:pPr algn="ctr"/>
                <a:endParaRPr lang="en-US" sz="5800" dirty="0"/>
              </a:p>
              <a:p>
                <a:pPr algn="ctr"/>
                <a:endParaRPr lang="de-DE" sz="5800" dirty="0"/>
              </a:p>
            </p:txBody>
          </p:sp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C982D3DE-E5B1-C58B-56AA-2CB7FC42A833}"/>
                  </a:ext>
                </a:extLst>
              </p:cNvPr>
              <p:cNvSpPr/>
              <p:nvPr/>
            </p:nvSpPr>
            <p:spPr>
              <a:xfrm>
                <a:off x="4965700" y="2990301"/>
                <a:ext cx="2260600" cy="2374900"/>
              </a:xfrm>
              <a:prstGeom prst="roundRect">
                <a:avLst/>
              </a:prstGeom>
              <a:solidFill>
                <a:srgbClr val="0000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dirty="0">
                    <a:latin typeface="Arial Rounded MT Bold" panose="020F0704030504030204" pitchFamily="34" charset="0"/>
                  </a:rPr>
                  <a:t>The ticket lasts for 24h and you can hop on at all times</a:t>
                </a:r>
              </a:p>
            </p:txBody>
          </p:sp>
          <p:sp>
            <p:nvSpPr>
              <p:cNvPr id="47" name="Rechteck: abgerundete Ecken 46">
                <a:extLst>
                  <a:ext uri="{FF2B5EF4-FFF2-40B4-BE49-F238E27FC236}">
                    <a16:creationId xmlns:a16="http://schemas.microsoft.com/office/drawing/2014/main" id="{9355F4FA-E211-3872-BE41-E3FA9505BED6}"/>
                  </a:ext>
                </a:extLst>
              </p:cNvPr>
              <p:cNvSpPr/>
              <p:nvPr/>
            </p:nvSpPr>
            <p:spPr>
              <a:xfrm>
                <a:off x="7672473" y="2985670"/>
                <a:ext cx="2260600" cy="2374900"/>
              </a:xfrm>
              <a:prstGeom prst="roundRect">
                <a:avLst/>
              </a:prstGeom>
              <a:solidFill>
                <a:srgbClr val="0000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dirty="0">
                    <a:latin typeface="Arial Rounded MT Bold" panose="020F0704030504030204" pitchFamily="34" charset="0"/>
                  </a:rPr>
                  <a:t>~$30</a:t>
                </a:r>
              </a:p>
            </p:txBody>
          </p:sp>
          <p:sp>
            <p:nvSpPr>
              <p:cNvPr id="48" name="Rechteck: abgerundete Ecken 47">
                <a:extLst>
                  <a:ext uri="{FF2B5EF4-FFF2-40B4-BE49-F238E27FC236}">
                    <a16:creationId xmlns:a16="http://schemas.microsoft.com/office/drawing/2014/main" id="{7C48523E-41B8-4184-E287-08C806AE0A53}"/>
                  </a:ext>
                </a:extLst>
              </p:cNvPr>
              <p:cNvSpPr/>
              <p:nvPr/>
            </p:nvSpPr>
            <p:spPr>
              <a:xfrm>
                <a:off x="2248877" y="2990301"/>
                <a:ext cx="2260600" cy="2374900"/>
              </a:xfrm>
              <a:prstGeom prst="roundRect">
                <a:avLst/>
              </a:prstGeom>
              <a:solidFill>
                <a:schemeClr val="tx1">
                  <a:alpha val="69804"/>
                </a:schemeClr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de-DE" dirty="0">
                    <a:latin typeface="Arial Rounded MT Bold" panose="020F0704030504030204" pitchFamily="34" charset="0"/>
                  </a:rPr>
                  <a:t>The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ride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includes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every</a:t>
                </a:r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de-DE" dirty="0" err="1">
                    <a:latin typeface="Arial Rounded MT Bold" panose="020F0704030504030204" pitchFamily="34" charset="0"/>
                  </a:rPr>
                  <a:t>famous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sight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</a:p>
            </p:txBody>
          </p:sp>
          <p:pic>
            <p:nvPicPr>
              <p:cNvPr id="49" name="Grafik 48" descr="Ein Bild, das Kreis, Grafiken, Schwarzweiß, Design enthält.&#10;&#10;Automatisch generierte Beschreibung">
                <a:extLst>
                  <a:ext uri="{FF2B5EF4-FFF2-40B4-BE49-F238E27FC236}">
                    <a16:creationId xmlns:a16="http://schemas.microsoft.com/office/drawing/2014/main" id="{18E31A7A-96B5-93C2-7C72-E32BBAD96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8584" y="3269587"/>
                <a:ext cx="323284" cy="323284"/>
              </a:xfrm>
              <a:prstGeom prst="rect">
                <a:avLst/>
              </a:prstGeom>
            </p:spPr>
          </p:pic>
        </p:grpSp>
        <p:pic>
          <p:nvPicPr>
            <p:cNvPr id="43" name="Grafik 42" descr="Ein Bild, das Symbol, Kreis, Grafiken, Schrift enthält.&#10;&#10;Automatisch generierte Beschreibung">
              <a:extLst>
                <a:ext uri="{FF2B5EF4-FFF2-40B4-BE49-F238E27FC236}">
                  <a16:creationId xmlns:a16="http://schemas.microsoft.com/office/drawing/2014/main" id="{3C74A6A3-11FB-77CB-A8A9-5A55F7650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2637" y="3163107"/>
              <a:ext cx="305141" cy="305141"/>
            </a:xfrm>
            <a:prstGeom prst="rect">
              <a:avLst/>
            </a:prstGeom>
          </p:spPr>
        </p:pic>
        <p:pic>
          <p:nvPicPr>
            <p:cNvPr id="44" name="Grafik 43" descr="Ein Bild, das Symbol, Schrift, Logo enthält.&#10;&#10;Automatisch generierte Beschreibung">
              <a:extLst>
                <a:ext uri="{FF2B5EF4-FFF2-40B4-BE49-F238E27FC236}">
                  <a16:creationId xmlns:a16="http://schemas.microsoft.com/office/drawing/2014/main" id="{1D1593C1-6A9A-0C83-A077-9BD522792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1152" y="3181402"/>
              <a:ext cx="353673" cy="3536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9914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0648A36-1A41-F63B-019A-501E20572B0A}"/>
              </a:ext>
            </a:extLst>
          </p:cNvPr>
          <p:cNvSpPr/>
          <p:nvPr/>
        </p:nvSpPr>
        <p:spPr>
          <a:xfrm>
            <a:off x="-2" y="0"/>
            <a:ext cx="12216423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ED6093C-117B-56D8-71A6-B6900D80E8B4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rgbClr val="000000">
              <a:alpha val="5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F5EFA399-B2EF-AB57-211B-F17F91916A52}"/>
              </a:ext>
            </a:extLst>
          </p:cNvPr>
          <p:cNvGrpSpPr/>
          <p:nvPr/>
        </p:nvGrpSpPr>
        <p:grpSpPr>
          <a:xfrm>
            <a:off x="1635472" y="-6063454"/>
            <a:ext cx="9182100" cy="4835979"/>
            <a:chOff x="1529373" y="1013240"/>
            <a:chExt cx="9182100" cy="4835979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B6BE102E-110C-DA59-414F-8FC497CAF877}"/>
                </a:ext>
              </a:extLst>
            </p:cNvPr>
            <p:cNvSpPr/>
            <p:nvPr/>
          </p:nvSpPr>
          <p:spPr>
            <a:xfrm>
              <a:off x="1529373" y="1013240"/>
              <a:ext cx="9182100" cy="4835979"/>
            </a:xfrm>
            <a:prstGeom prst="round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5800" dirty="0">
                  <a:latin typeface="Arial Rounded MT Bold" panose="020F0704030504030204" pitchFamily="34" charset="0"/>
                </a:rPr>
                <a:t>COPPA CLUB</a:t>
              </a:r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en-US" sz="5800" dirty="0"/>
            </a:p>
            <a:p>
              <a:pPr algn="ctr"/>
              <a:endParaRPr lang="de-DE" sz="5800" dirty="0"/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AEE4BF9C-1E71-E3AD-2A18-05D19D5A347E}"/>
                </a:ext>
              </a:extLst>
            </p:cNvPr>
            <p:cNvSpPr/>
            <p:nvPr/>
          </p:nvSpPr>
          <p:spPr>
            <a:xfrm>
              <a:off x="4965700" y="2990301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European cuisine</a:t>
              </a:r>
            </a:p>
          </p:txBody>
        </p:sp>
        <p:pic>
          <p:nvPicPr>
            <p:cNvPr id="27" name="Grafik 26" descr="Ein Bild, das Logo, Symbol, Schrift, Grafiken enthält.&#10;&#10;Automatisch generierte Beschreibung">
              <a:extLst>
                <a:ext uri="{FF2B5EF4-FFF2-40B4-BE49-F238E27FC236}">
                  <a16:creationId xmlns:a16="http://schemas.microsoft.com/office/drawing/2014/main" id="{CD7434A1-10B4-D949-783B-6AE2624E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977685" y="3224923"/>
              <a:ext cx="261051" cy="291183"/>
            </a:xfrm>
            <a:prstGeom prst="rect">
              <a:avLst/>
            </a:prstGeom>
          </p:spPr>
        </p:pic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8BFB46E6-3A86-0FBB-E254-E633BA492C86}"/>
                </a:ext>
              </a:extLst>
            </p:cNvPr>
            <p:cNvSpPr/>
            <p:nvPr/>
          </p:nvSpPr>
          <p:spPr>
            <a:xfrm>
              <a:off x="7682523" y="2983734"/>
              <a:ext cx="2260600" cy="2374900"/>
            </a:xfrm>
            <a:prstGeom prst="roundRect">
              <a:avLst/>
            </a:prstGeom>
            <a:solidFill>
              <a:srgbClr val="000000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Majestic view </a:t>
              </a:r>
            </a:p>
            <a:p>
              <a:pPr algn="ctr"/>
              <a:r>
                <a:rPr lang="en-US" dirty="0">
                  <a:latin typeface="Arial Rounded MT Bold" panose="020F0704030504030204" pitchFamily="34" charset="0"/>
                </a:rPr>
                <a:t>of the Thames</a:t>
              </a:r>
              <a:endParaRPr lang="de-DE" dirty="0">
                <a:latin typeface="Arial Rounded MT Bold" panose="020F0704030504030204" pitchFamily="34" charset="0"/>
              </a:endParaRPr>
            </a:p>
          </p:txBody>
        </p:sp>
        <p:pic>
          <p:nvPicPr>
            <p:cNvPr id="29" name="Grafik 28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84CFC042-CD0A-48F3-D0EE-C6B1C3F4F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1131" y="3178842"/>
              <a:ext cx="323284" cy="323284"/>
            </a:xfrm>
            <a:prstGeom prst="rect">
              <a:avLst/>
            </a:prstGeom>
          </p:spPr>
        </p:pic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55477573-CB4D-BD47-2A68-FB7D771D7D9B}"/>
                </a:ext>
              </a:extLst>
            </p:cNvPr>
            <p:cNvSpPr/>
            <p:nvPr/>
          </p:nvSpPr>
          <p:spPr>
            <a:xfrm>
              <a:off x="2248877" y="2959325"/>
              <a:ext cx="2260600" cy="2374900"/>
            </a:xfrm>
            <a:prstGeom prst="roundRect">
              <a:avLst/>
            </a:prstGeom>
            <a:solidFill>
              <a:schemeClr val="tx1">
                <a:alpha val="69804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0"/>
              </a:endParaRPr>
            </a:p>
            <a:p>
              <a:pPr algn="ctr"/>
              <a:endParaRPr lang="de-DE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Near</a:t>
              </a:r>
              <a:r>
                <a:rPr lang="de-DE" dirty="0">
                  <a:latin typeface="Arial Rounded MT Bold" panose="020F0704030504030204" pitchFamily="34" charset="0"/>
                </a:rPr>
                <a:t> </a:t>
              </a:r>
              <a:r>
                <a:rPr lang="de-DE" dirty="0" err="1">
                  <a:latin typeface="Arial Rounded MT Bold" panose="020F0704030504030204" pitchFamily="34" charset="0"/>
                </a:rPr>
                <a:t>the</a:t>
              </a:r>
              <a:r>
                <a:rPr lang="de-DE" dirty="0">
                  <a:latin typeface="Arial Rounded MT Bold" panose="020F0704030504030204" pitchFamily="34" charset="0"/>
                </a:rPr>
                <a:t> Tower </a:t>
              </a:r>
            </a:p>
            <a:p>
              <a:pPr algn="ctr"/>
              <a:r>
                <a:rPr lang="de-DE" dirty="0" err="1">
                  <a:latin typeface="Arial Rounded MT Bold" panose="020F0704030504030204" pitchFamily="34" charset="0"/>
                </a:rPr>
                <a:t>of</a:t>
              </a:r>
              <a:r>
                <a:rPr lang="de-DE" dirty="0">
                  <a:latin typeface="Arial Rounded MT Bold" panose="020F0704030504030204" pitchFamily="34" charset="0"/>
                </a:rPr>
                <a:t> London</a:t>
              </a:r>
            </a:p>
          </p:txBody>
        </p:sp>
        <p:pic>
          <p:nvPicPr>
            <p:cNvPr id="18" name="Grafik 17" descr="Ein Bild, das Kreis, Grafiken, Schwarzweiß, Design enthält.&#10;&#10;Automatisch generierte Beschreibung">
              <a:extLst>
                <a:ext uri="{FF2B5EF4-FFF2-40B4-BE49-F238E27FC236}">
                  <a16:creationId xmlns:a16="http://schemas.microsoft.com/office/drawing/2014/main" id="{229E1393-3C32-5D84-E66A-C0D43936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3154" y="3224923"/>
              <a:ext cx="341113" cy="282861"/>
            </a:xfrm>
            <a:prstGeom prst="rect">
              <a:avLst/>
            </a:prstGeom>
          </p:spPr>
        </p:pic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6E9FC6A8-8749-7E3E-8F2F-D18FFC237F0A}"/>
              </a:ext>
            </a:extLst>
          </p:cNvPr>
          <p:cNvSpPr/>
          <p:nvPr/>
        </p:nvSpPr>
        <p:spPr>
          <a:xfrm>
            <a:off x="-12216425" y="0"/>
            <a:ext cx="12216423" cy="685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7F5EC80-ED21-DF07-3819-E436086D44D7}"/>
              </a:ext>
            </a:extLst>
          </p:cNvPr>
          <p:cNvGrpSpPr/>
          <p:nvPr/>
        </p:nvGrpSpPr>
        <p:grpSpPr>
          <a:xfrm>
            <a:off x="1753785" y="1011010"/>
            <a:ext cx="9182100" cy="4835979"/>
            <a:chOff x="1753785" y="1011010"/>
            <a:chExt cx="9182100" cy="4835979"/>
          </a:xfrm>
        </p:grpSpPr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10C3D6BA-9087-9FF2-1825-6CD7BEE72BE1}"/>
                </a:ext>
              </a:extLst>
            </p:cNvPr>
            <p:cNvGrpSpPr/>
            <p:nvPr/>
          </p:nvGrpSpPr>
          <p:grpSpPr>
            <a:xfrm>
              <a:off x="1753785" y="1011010"/>
              <a:ext cx="9182100" cy="4835979"/>
              <a:chOff x="1331909" y="1174881"/>
              <a:chExt cx="9182100" cy="4835979"/>
            </a:xfrm>
          </p:grpSpPr>
          <p:sp>
            <p:nvSpPr>
              <p:cNvPr id="8" name="Rechteck: abgerundete Ecken 7">
                <a:extLst>
                  <a:ext uri="{FF2B5EF4-FFF2-40B4-BE49-F238E27FC236}">
                    <a16:creationId xmlns:a16="http://schemas.microsoft.com/office/drawing/2014/main" id="{56550087-9382-1956-4CF6-D1C3A2612541}"/>
                  </a:ext>
                </a:extLst>
              </p:cNvPr>
              <p:cNvSpPr/>
              <p:nvPr/>
            </p:nvSpPr>
            <p:spPr>
              <a:xfrm>
                <a:off x="1331909" y="1174881"/>
                <a:ext cx="9182100" cy="4835979"/>
              </a:xfrm>
              <a:prstGeom prst="roundRect">
                <a:avLst/>
              </a:pr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5800" dirty="0">
                    <a:latin typeface="Arial Rounded MT Bold" panose="020F0704030504030204" pitchFamily="34" charset="0"/>
                  </a:rPr>
                  <a:t>Hop-on Hop-off </a:t>
                </a:r>
              </a:p>
              <a:p>
                <a:r>
                  <a:rPr lang="en-US" dirty="0">
                    <a:latin typeface="Arial Rounded MT Bold" panose="020F0704030504030204" pitchFamily="34" charset="0"/>
                  </a:rPr>
                  <a:t>with guide</a:t>
                </a:r>
              </a:p>
              <a:p>
                <a:pPr algn="ctr"/>
                <a:endParaRPr lang="en-US" sz="5800" dirty="0"/>
              </a:p>
              <a:p>
                <a:pPr algn="ctr"/>
                <a:endParaRPr lang="en-US" sz="5800" dirty="0"/>
              </a:p>
              <a:p>
                <a:pPr algn="ctr"/>
                <a:endParaRPr lang="en-US" sz="5800" dirty="0"/>
              </a:p>
              <a:p>
                <a:pPr algn="ctr"/>
                <a:endParaRPr lang="de-DE" sz="5800" dirty="0"/>
              </a:p>
            </p:txBody>
          </p:sp>
          <p:sp>
            <p:nvSpPr>
              <p:cNvPr id="9" name="Rechteck: abgerundete Ecken 8">
                <a:extLst>
                  <a:ext uri="{FF2B5EF4-FFF2-40B4-BE49-F238E27FC236}">
                    <a16:creationId xmlns:a16="http://schemas.microsoft.com/office/drawing/2014/main" id="{5C6A4452-69CA-5E40-8637-72C5D19228A0}"/>
                  </a:ext>
                </a:extLst>
              </p:cNvPr>
              <p:cNvSpPr/>
              <p:nvPr/>
            </p:nvSpPr>
            <p:spPr>
              <a:xfrm>
                <a:off x="4965700" y="2990301"/>
                <a:ext cx="2260600" cy="2374900"/>
              </a:xfrm>
              <a:prstGeom prst="roundRect">
                <a:avLst/>
              </a:prstGeom>
              <a:solidFill>
                <a:srgbClr val="0000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dirty="0">
                    <a:latin typeface="Arial Rounded MT Bold" panose="020F0704030504030204" pitchFamily="34" charset="0"/>
                  </a:rPr>
                  <a:t>The ticket lasts for 24h and you can hop on at all times</a:t>
                </a:r>
              </a:p>
            </p:txBody>
          </p:sp>
          <p:sp>
            <p:nvSpPr>
              <p:cNvPr id="11" name="Rechteck: abgerundete Ecken 10">
                <a:extLst>
                  <a:ext uri="{FF2B5EF4-FFF2-40B4-BE49-F238E27FC236}">
                    <a16:creationId xmlns:a16="http://schemas.microsoft.com/office/drawing/2014/main" id="{A0FE5EC7-7C9C-3E8B-3D33-81F137AE595C}"/>
                  </a:ext>
                </a:extLst>
              </p:cNvPr>
              <p:cNvSpPr/>
              <p:nvPr/>
            </p:nvSpPr>
            <p:spPr>
              <a:xfrm>
                <a:off x="7672473" y="2985670"/>
                <a:ext cx="2260600" cy="2374900"/>
              </a:xfrm>
              <a:prstGeom prst="roundRect">
                <a:avLst/>
              </a:prstGeom>
              <a:solidFill>
                <a:srgbClr val="000000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en-US" dirty="0">
                    <a:latin typeface="Arial Rounded MT Bold" panose="020F0704030504030204" pitchFamily="34" charset="0"/>
                  </a:rPr>
                  <a:t>~$30</a:t>
                </a:r>
              </a:p>
            </p:txBody>
          </p:sp>
          <p:sp>
            <p:nvSpPr>
              <p:cNvPr id="13" name="Rechteck: abgerundete Ecken 12">
                <a:extLst>
                  <a:ext uri="{FF2B5EF4-FFF2-40B4-BE49-F238E27FC236}">
                    <a16:creationId xmlns:a16="http://schemas.microsoft.com/office/drawing/2014/main" id="{3BA54FD8-2468-A53F-7E82-27DD1945F4A1}"/>
                  </a:ext>
                </a:extLst>
              </p:cNvPr>
              <p:cNvSpPr/>
              <p:nvPr/>
            </p:nvSpPr>
            <p:spPr>
              <a:xfrm>
                <a:off x="2248877" y="2990301"/>
                <a:ext cx="2260600" cy="2374900"/>
              </a:xfrm>
              <a:prstGeom prst="roundRect">
                <a:avLst/>
              </a:prstGeom>
              <a:solidFill>
                <a:schemeClr val="tx1">
                  <a:alpha val="69804"/>
                </a:schemeClr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 Rounded MT Bold" panose="020F0704030504030204" pitchFamily="34" charset="0"/>
                </a:endParaRPr>
              </a:p>
              <a:p>
                <a:pPr algn="ctr"/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de-DE" dirty="0">
                    <a:latin typeface="Arial Rounded MT Bold" panose="020F0704030504030204" pitchFamily="34" charset="0"/>
                  </a:rPr>
                  <a:t>The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ride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includes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every</a:t>
                </a:r>
                <a:endParaRPr lang="de-DE" dirty="0">
                  <a:latin typeface="Arial Rounded MT Bold" panose="020F0704030504030204" pitchFamily="34" charset="0"/>
                </a:endParaRPr>
              </a:p>
              <a:p>
                <a:pPr algn="ctr"/>
                <a:r>
                  <a:rPr lang="de-DE" dirty="0" err="1">
                    <a:latin typeface="Arial Rounded MT Bold" panose="020F0704030504030204" pitchFamily="34" charset="0"/>
                  </a:rPr>
                  <a:t>famous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  <a:r>
                  <a:rPr lang="de-DE" dirty="0" err="1">
                    <a:latin typeface="Arial Rounded MT Bold" panose="020F0704030504030204" pitchFamily="34" charset="0"/>
                  </a:rPr>
                  <a:t>sight</a:t>
                </a:r>
                <a:r>
                  <a:rPr lang="de-DE" dirty="0">
                    <a:latin typeface="Arial Rounded MT Bold" panose="020F0704030504030204" pitchFamily="34" charset="0"/>
                  </a:rPr>
                  <a:t> </a:t>
                </a:r>
              </a:p>
            </p:txBody>
          </p:sp>
          <p:pic>
            <p:nvPicPr>
              <p:cNvPr id="12" name="Grafik 11" descr="Ein Bild, das Kreis, Grafiken, Schwarzweiß, Design enthält.&#10;&#10;Automatisch generierte Beschreibung">
                <a:extLst>
                  <a:ext uri="{FF2B5EF4-FFF2-40B4-BE49-F238E27FC236}">
                    <a16:creationId xmlns:a16="http://schemas.microsoft.com/office/drawing/2014/main" id="{B902DCA0-723D-74FE-DECD-E8C53BEE5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68584" y="3269587"/>
                <a:ext cx="323284" cy="323284"/>
              </a:xfrm>
              <a:prstGeom prst="rect">
                <a:avLst/>
              </a:prstGeom>
            </p:spPr>
          </p:pic>
        </p:grpSp>
        <p:pic>
          <p:nvPicPr>
            <p:cNvPr id="19" name="Grafik 18" descr="Ein Bild, das Symbol, Kreis, Grafiken, Schrift enthält.&#10;&#10;Automatisch generierte Beschreibung">
              <a:extLst>
                <a:ext uri="{FF2B5EF4-FFF2-40B4-BE49-F238E27FC236}">
                  <a16:creationId xmlns:a16="http://schemas.microsoft.com/office/drawing/2014/main" id="{D34998CB-2E8B-1820-6E52-D0609999C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2637" y="3163107"/>
              <a:ext cx="305141" cy="305141"/>
            </a:xfrm>
            <a:prstGeom prst="rect">
              <a:avLst/>
            </a:prstGeom>
          </p:spPr>
        </p:pic>
        <p:pic>
          <p:nvPicPr>
            <p:cNvPr id="15" name="Grafik 14" descr="Ein Bild, das Symbol, Schrift, Logo enthält.&#10;&#10;Automatisch generierte Beschreibung">
              <a:extLst>
                <a:ext uri="{FF2B5EF4-FFF2-40B4-BE49-F238E27FC236}">
                  <a16:creationId xmlns:a16="http://schemas.microsoft.com/office/drawing/2014/main" id="{6DBF7DE8-BABE-DBB2-7FD2-452F5A591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1152" y="3181402"/>
              <a:ext cx="353673" cy="3536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1191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Breitbild</PresentationFormat>
  <Paragraphs>160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Fabian Deuerling</dc:creator>
  <cp:lastModifiedBy>Fabian Deuerling</cp:lastModifiedBy>
  <cp:revision>1</cp:revision>
  <dcterms:created xsi:type="dcterms:W3CDTF">2023-10-29T06:36:49Z</dcterms:created>
  <dcterms:modified xsi:type="dcterms:W3CDTF">2023-10-29T10:39:43Z</dcterms:modified>
</cp:coreProperties>
</file>